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83" r:id="rId7"/>
    <p:sldId id="266" r:id="rId8"/>
    <p:sldId id="267" r:id="rId9"/>
    <p:sldId id="268" r:id="rId10"/>
    <p:sldId id="270" r:id="rId11"/>
    <p:sldId id="271" r:id="rId12"/>
    <p:sldId id="262" r:id="rId13"/>
    <p:sldId id="263" r:id="rId14"/>
    <p:sldId id="278" r:id="rId15"/>
    <p:sldId id="279" r:id="rId16"/>
    <p:sldId id="280" r:id="rId17"/>
    <p:sldId id="284" r:id="rId18"/>
    <p:sldId id="277" r:id="rId19"/>
    <p:sldId id="281" r:id="rId20"/>
    <p:sldId id="282" r:id="rId21"/>
    <p:sldId id="276" r:id="rId22"/>
    <p:sldId id="28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67" d="100"/>
          <a:sy n="67" d="100"/>
        </p:scale>
        <p:origin x="8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3DB0F2-ACDE-4A64-AD08-89F646223B79}" type="doc">
      <dgm:prSet loTypeId="urn:microsoft.com/office/officeart/2018/5/layout/IconLeaf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64BC3A-1129-4960-91FD-5BBDB7C34CC4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400" dirty="0">
              <a:latin typeface="Cambria" panose="02040503050406030204" pitchFamily="18" charset="0"/>
              <a:ea typeface="Cambria" panose="02040503050406030204" pitchFamily="18" charset="0"/>
            </a:rPr>
            <a:t>This project analyzes international student application data from DePaul University</a:t>
          </a:r>
        </a:p>
      </dgm:t>
    </dgm:pt>
    <dgm:pt modelId="{78B3A4A1-8448-4CF3-917A-B89A56E053E7}" type="parTrans" cxnId="{C5C94626-9D5A-4EE3-846E-24D9E802C18A}">
      <dgm:prSet/>
      <dgm:spPr/>
      <dgm:t>
        <a:bodyPr/>
        <a:lstStyle/>
        <a:p>
          <a:endParaRPr lang="en-ZA"/>
        </a:p>
      </dgm:t>
    </dgm:pt>
    <dgm:pt modelId="{FEF2FE4A-7CAD-4BB9-B4CD-0BE00B9A9EF9}" type="sibTrans" cxnId="{C5C94626-9D5A-4EE3-846E-24D9E802C18A}">
      <dgm:prSet/>
      <dgm:spPr/>
      <dgm:t>
        <a:bodyPr/>
        <a:lstStyle/>
        <a:p>
          <a:endParaRPr lang="en-ZA"/>
        </a:p>
      </dgm:t>
    </dgm:pt>
    <dgm:pt modelId="{B9209BAE-3EF6-4BA0-ACE8-87DB471655A4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400" dirty="0">
              <a:latin typeface="Cambria" panose="02040503050406030204" pitchFamily="18" charset="0"/>
              <a:ea typeface="Cambria" panose="02040503050406030204" pitchFamily="18" charset="0"/>
            </a:rPr>
            <a:t>The aim is to identify recruitment patterns, program demand, and application outcomes</a:t>
          </a:r>
        </a:p>
      </dgm:t>
    </dgm:pt>
    <dgm:pt modelId="{6D1812F6-2814-470A-BD41-3CD41591379C}" type="parTrans" cxnId="{887C2D62-A866-478D-B2A8-BE9F4715B2C7}">
      <dgm:prSet/>
      <dgm:spPr/>
      <dgm:t>
        <a:bodyPr/>
        <a:lstStyle/>
        <a:p>
          <a:endParaRPr lang="en-ZA"/>
        </a:p>
      </dgm:t>
    </dgm:pt>
    <dgm:pt modelId="{68D6C72E-258B-447F-83CA-F1362B80325D}" type="sibTrans" cxnId="{887C2D62-A866-478D-B2A8-BE9F4715B2C7}">
      <dgm:prSet/>
      <dgm:spPr/>
      <dgm:t>
        <a:bodyPr/>
        <a:lstStyle/>
        <a:p>
          <a:endParaRPr lang="en-ZA"/>
        </a:p>
      </dgm:t>
    </dgm:pt>
    <dgm:pt modelId="{7CC8E12A-8D13-4DBB-B5F3-2234E4A506AB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400" dirty="0">
              <a:latin typeface="Cambria" panose="02040503050406030204" pitchFamily="18" charset="0"/>
              <a:ea typeface="Cambria" panose="02040503050406030204" pitchFamily="18" charset="0"/>
            </a:rPr>
            <a:t>Data analytics techniques were applied to support strategic admissions decision-making</a:t>
          </a:r>
        </a:p>
      </dgm:t>
    </dgm:pt>
    <dgm:pt modelId="{02473C46-0ACF-49B4-B84A-7E33710A36E4}" type="parTrans" cxnId="{E64BA7F6-D470-4A9B-BC07-A3E12426E4C6}">
      <dgm:prSet/>
      <dgm:spPr/>
      <dgm:t>
        <a:bodyPr/>
        <a:lstStyle/>
        <a:p>
          <a:endParaRPr lang="en-ZA"/>
        </a:p>
      </dgm:t>
    </dgm:pt>
    <dgm:pt modelId="{EC29A054-0E5E-4FE0-8C54-F51BF71440CA}" type="sibTrans" cxnId="{E64BA7F6-D470-4A9B-BC07-A3E12426E4C6}">
      <dgm:prSet/>
      <dgm:spPr/>
      <dgm:t>
        <a:bodyPr/>
        <a:lstStyle/>
        <a:p>
          <a:endParaRPr lang="en-ZA"/>
        </a:p>
      </dgm:t>
    </dgm:pt>
    <dgm:pt modelId="{04966EF0-3634-4F39-AA17-A44DCC596C31}" type="pres">
      <dgm:prSet presAssocID="{A03DB0F2-ACDE-4A64-AD08-89F646223B79}" presName="root" presStyleCnt="0">
        <dgm:presLayoutVars>
          <dgm:dir/>
          <dgm:resizeHandles val="exact"/>
        </dgm:presLayoutVars>
      </dgm:prSet>
      <dgm:spPr/>
    </dgm:pt>
    <dgm:pt modelId="{F05E238B-8BB5-4B7B-8237-7C66B8BC0948}" type="pres">
      <dgm:prSet presAssocID="{9564BC3A-1129-4960-91FD-5BBDB7C34CC4}" presName="compNode" presStyleCnt="0"/>
      <dgm:spPr/>
    </dgm:pt>
    <dgm:pt modelId="{6853DCA9-0BDD-44C9-8FEF-2918A28C2244}" type="pres">
      <dgm:prSet presAssocID="{9564BC3A-1129-4960-91FD-5BBDB7C34CC4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EF692B8-3E8B-4B1D-9590-5E69CBF5E1BB}" type="pres">
      <dgm:prSet presAssocID="{9564BC3A-1129-4960-91FD-5BBDB7C34CC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4DF7325-B26B-4F95-97A4-F37DFB5A7E0F}" type="pres">
      <dgm:prSet presAssocID="{9564BC3A-1129-4960-91FD-5BBDB7C34CC4}" presName="spaceRect" presStyleCnt="0"/>
      <dgm:spPr/>
    </dgm:pt>
    <dgm:pt modelId="{C084FDDE-86FF-4339-B2FE-068DD59AC21C}" type="pres">
      <dgm:prSet presAssocID="{9564BC3A-1129-4960-91FD-5BBDB7C34CC4}" presName="textRect" presStyleLbl="revTx" presStyleIdx="0" presStyleCnt="3">
        <dgm:presLayoutVars>
          <dgm:chMax val="1"/>
          <dgm:chPref val="1"/>
        </dgm:presLayoutVars>
      </dgm:prSet>
      <dgm:spPr/>
    </dgm:pt>
    <dgm:pt modelId="{1F2BC607-A96B-4C15-A923-87E341376106}" type="pres">
      <dgm:prSet presAssocID="{FEF2FE4A-7CAD-4BB9-B4CD-0BE00B9A9EF9}" presName="sibTrans" presStyleCnt="0"/>
      <dgm:spPr/>
    </dgm:pt>
    <dgm:pt modelId="{27B3A223-F97E-46ED-BDE1-E301D6DC492F}" type="pres">
      <dgm:prSet presAssocID="{B9209BAE-3EF6-4BA0-ACE8-87DB471655A4}" presName="compNode" presStyleCnt="0"/>
      <dgm:spPr/>
    </dgm:pt>
    <dgm:pt modelId="{C84ABED1-9830-4E48-9C5C-FE8A8C3D2E78}" type="pres">
      <dgm:prSet presAssocID="{B9209BAE-3EF6-4BA0-ACE8-87DB471655A4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190E2EC-6891-4E20-A09C-F5508997155D}" type="pres">
      <dgm:prSet presAssocID="{B9209BAE-3EF6-4BA0-ACE8-87DB471655A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880BF1D5-7515-4AC7-8805-3DF05C5477BC}" type="pres">
      <dgm:prSet presAssocID="{B9209BAE-3EF6-4BA0-ACE8-87DB471655A4}" presName="spaceRect" presStyleCnt="0"/>
      <dgm:spPr/>
    </dgm:pt>
    <dgm:pt modelId="{5662EF2D-42ED-47C2-BAA6-849483A0ADE0}" type="pres">
      <dgm:prSet presAssocID="{B9209BAE-3EF6-4BA0-ACE8-87DB471655A4}" presName="textRect" presStyleLbl="revTx" presStyleIdx="1" presStyleCnt="3">
        <dgm:presLayoutVars>
          <dgm:chMax val="1"/>
          <dgm:chPref val="1"/>
        </dgm:presLayoutVars>
      </dgm:prSet>
      <dgm:spPr/>
    </dgm:pt>
    <dgm:pt modelId="{87AC58BC-F4B8-410E-95B2-0173C5E27BC5}" type="pres">
      <dgm:prSet presAssocID="{68D6C72E-258B-447F-83CA-F1362B80325D}" presName="sibTrans" presStyleCnt="0"/>
      <dgm:spPr/>
    </dgm:pt>
    <dgm:pt modelId="{9BAB03EB-5C0E-41C7-88D8-92BD895F7EFD}" type="pres">
      <dgm:prSet presAssocID="{7CC8E12A-8D13-4DBB-B5F3-2234E4A506AB}" presName="compNode" presStyleCnt="0"/>
      <dgm:spPr/>
    </dgm:pt>
    <dgm:pt modelId="{D86DC841-E17A-4EFE-8F77-055EE2F4FFB8}" type="pres">
      <dgm:prSet presAssocID="{7CC8E12A-8D13-4DBB-B5F3-2234E4A506AB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BF2181E-D193-4237-BDAB-8FCB55705345}" type="pres">
      <dgm:prSet presAssocID="{7CC8E12A-8D13-4DBB-B5F3-2234E4A506A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0B3EDA1-B6F6-4778-A0E8-571A1FED2A1E}" type="pres">
      <dgm:prSet presAssocID="{7CC8E12A-8D13-4DBB-B5F3-2234E4A506AB}" presName="spaceRect" presStyleCnt="0"/>
      <dgm:spPr/>
    </dgm:pt>
    <dgm:pt modelId="{114BA9BB-23DB-4D6C-BB24-8D63056A9D06}" type="pres">
      <dgm:prSet presAssocID="{7CC8E12A-8D13-4DBB-B5F3-2234E4A506A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54A560C-856D-4D5C-8054-83F200B3CE2F}" type="presOf" srcId="{B9209BAE-3EF6-4BA0-ACE8-87DB471655A4}" destId="{5662EF2D-42ED-47C2-BAA6-849483A0ADE0}" srcOrd="0" destOrd="0" presId="urn:microsoft.com/office/officeart/2018/5/layout/IconLeafLabelList"/>
    <dgm:cxn modelId="{C5C94626-9D5A-4EE3-846E-24D9E802C18A}" srcId="{A03DB0F2-ACDE-4A64-AD08-89F646223B79}" destId="{9564BC3A-1129-4960-91FD-5BBDB7C34CC4}" srcOrd="0" destOrd="0" parTransId="{78B3A4A1-8448-4CF3-917A-B89A56E053E7}" sibTransId="{FEF2FE4A-7CAD-4BB9-B4CD-0BE00B9A9EF9}"/>
    <dgm:cxn modelId="{887C2D62-A866-478D-B2A8-BE9F4715B2C7}" srcId="{A03DB0F2-ACDE-4A64-AD08-89F646223B79}" destId="{B9209BAE-3EF6-4BA0-ACE8-87DB471655A4}" srcOrd="1" destOrd="0" parTransId="{6D1812F6-2814-470A-BD41-3CD41591379C}" sibTransId="{68D6C72E-258B-447F-83CA-F1362B80325D}"/>
    <dgm:cxn modelId="{E78F7888-834A-47D4-BA3E-25597BACF136}" type="presOf" srcId="{7CC8E12A-8D13-4DBB-B5F3-2234E4A506AB}" destId="{114BA9BB-23DB-4D6C-BB24-8D63056A9D06}" srcOrd="0" destOrd="0" presId="urn:microsoft.com/office/officeart/2018/5/layout/IconLeafLabelList"/>
    <dgm:cxn modelId="{A7ADA88D-9CA4-4D49-B207-821F3EB624CD}" type="presOf" srcId="{9564BC3A-1129-4960-91FD-5BBDB7C34CC4}" destId="{C084FDDE-86FF-4339-B2FE-068DD59AC21C}" srcOrd="0" destOrd="0" presId="urn:microsoft.com/office/officeart/2018/5/layout/IconLeafLabelList"/>
    <dgm:cxn modelId="{2FE66FA8-EB89-4A93-A2CC-9539608176FB}" type="presOf" srcId="{A03DB0F2-ACDE-4A64-AD08-89F646223B79}" destId="{04966EF0-3634-4F39-AA17-A44DCC596C31}" srcOrd="0" destOrd="0" presId="urn:microsoft.com/office/officeart/2018/5/layout/IconLeafLabelList"/>
    <dgm:cxn modelId="{E64BA7F6-D470-4A9B-BC07-A3E12426E4C6}" srcId="{A03DB0F2-ACDE-4A64-AD08-89F646223B79}" destId="{7CC8E12A-8D13-4DBB-B5F3-2234E4A506AB}" srcOrd="2" destOrd="0" parTransId="{02473C46-0ACF-49B4-B84A-7E33710A36E4}" sibTransId="{EC29A054-0E5E-4FE0-8C54-F51BF71440CA}"/>
    <dgm:cxn modelId="{D9F61488-8AD6-41D9-965B-B7154DDA3B1E}" type="presParOf" srcId="{04966EF0-3634-4F39-AA17-A44DCC596C31}" destId="{F05E238B-8BB5-4B7B-8237-7C66B8BC0948}" srcOrd="0" destOrd="0" presId="urn:microsoft.com/office/officeart/2018/5/layout/IconLeafLabelList"/>
    <dgm:cxn modelId="{00EAE486-121C-4433-A2ED-E232625CDF36}" type="presParOf" srcId="{F05E238B-8BB5-4B7B-8237-7C66B8BC0948}" destId="{6853DCA9-0BDD-44C9-8FEF-2918A28C2244}" srcOrd="0" destOrd="0" presId="urn:microsoft.com/office/officeart/2018/5/layout/IconLeafLabelList"/>
    <dgm:cxn modelId="{B48D9DA6-BDCA-4641-8131-A762F1B6384D}" type="presParOf" srcId="{F05E238B-8BB5-4B7B-8237-7C66B8BC0948}" destId="{6EF692B8-3E8B-4B1D-9590-5E69CBF5E1BB}" srcOrd="1" destOrd="0" presId="urn:microsoft.com/office/officeart/2018/5/layout/IconLeafLabelList"/>
    <dgm:cxn modelId="{B77FD2D9-C763-4077-AE18-A52F5F0B6DDC}" type="presParOf" srcId="{F05E238B-8BB5-4B7B-8237-7C66B8BC0948}" destId="{A4DF7325-B26B-4F95-97A4-F37DFB5A7E0F}" srcOrd="2" destOrd="0" presId="urn:microsoft.com/office/officeart/2018/5/layout/IconLeafLabelList"/>
    <dgm:cxn modelId="{7B10860B-A35B-4030-B812-E8F4EAE75BE9}" type="presParOf" srcId="{F05E238B-8BB5-4B7B-8237-7C66B8BC0948}" destId="{C084FDDE-86FF-4339-B2FE-068DD59AC21C}" srcOrd="3" destOrd="0" presId="urn:microsoft.com/office/officeart/2018/5/layout/IconLeafLabelList"/>
    <dgm:cxn modelId="{3C0B89EE-1272-4425-B2A3-C3863A337337}" type="presParOf" srcId="{04966EF0-3634-4F39-AA17-A44DCC596C31}" destId="{1F2BC607-A96B-4C15-A923-87E341376106}" srcOrd="1" destOrd="0" presId="urn:microsoft.com/office/officeart/2018/5/layout/IconLeafLabelList"/>
    <dgm:cxn modelId="{252854DD-B782-4C44-A407-9BCF4811D4ED}" type="presParOf" srcId="{04966EF0-3634-4F39-AA17-A44DCC596C31}" destId="{27B3A223-F97E-46ED-BDE1-E301D6DC492F}" srcOrd="2" destOrd="0" presId="urn:microsoft.com/office/officeart/2018/5/layout/IconLeafLabelList"/>
    <dgm:cxn modelId="{5CC9D651-0B15-4295-8CB4-C1EC0DC19057}" type="presParOf" srcId="{27B3A223-F97E-46ED-BDE1-E301D6DC492F}" destId="{C84ABED1-9830-4E48-9C5C-FE8A8C3D2E78}" srcOrd="0" destOrd="0" presId="urn:microsoft.com/office/officeart/2018/5/layout/IconLeafLabelList"/>
    <dgm:cxn modelId="{ED78BB14-0742-4AEC-9C79-A3A02BB76586}" type="presParOf" srcId="{27B3A223-F97E-46ED-BDE1-E301D6DC492F}" destId="{1190E2EC-6891-4E20-A09C-F5508997155D}" srcOrd="1" destOrd="0" presId="urn:microsoft.com/office/officeart/2018/5/layout/IconLeafLabelList"/>
    <dgm:cxn modelId="{E195B262-57BE-41CF-9601-95B69E220F10}" type="presParOf" srcId="{27B3A223-F97E-46ED-BDE1-E301D6DC492F}" destId="{880BF1D5-7515-4AC7-8805-3DF05C5477BC}" srcOrd="2" destOrd="0" presId="urn:microsoft.com/office/officeart/2018/5/layout/IconLeafLabelList"/>
    <dgm:cxn modelId="{69BEFD32-2E0F-4987-AC0E-D223EEBB5389}" type="presParOf" srcId="{27B3A223-F97E-46ED-BDE1-E301D6DC492F}" destId="{5662EF2D-42ED-47C2-BAA6-849483A0ADE0}" srcOrd="3" destOrd="0" presId="urn:microsoft.com/office/officeart/2018/5/layout/IconLeafLabelList"/>
    <dgm:cxn modelId="{793245BB-4A9D-4EC2-9216-D85F2C29767F}" type="presParOf" srcId="{04966EF0-3634-4F39-AA17-A44DCC596C31}" destId="{87AC58BC-F4B8-410E-95B2-0173C5E27BC5}" srcOrd="3" destOrd="0" presId="urn:microsoft.com/office/officeart/2018/5/layout/IconLeafLabelList"/>
    <dgm:cxn modelId="{EF90A294-C6AA-4071-8A82-FABF39151DE9}" type="presParOf" srcId="{04966EF0-3634-4F39-AA17-A44DCC596C31}" destId="{9BAB03EB-5C0E-41C7-88D8-92BD895F7EFD}" srcOrd="4" destOrd="0" presId="urn:microsoft.com/office/officeart/2018/5/layout/IconLeafLabelList"/>
    <dgm:cxn modelId="{8A851D6F-92B1-4F53-B318-5FB88B77EC96}" type="presParOf" srcId="{9BAB03EB-5C0E-41C7-88D8-92BD895F7EFD}" destId="{D86DC841-E17A-4EFE-8F77-055EE2F4FFB8}" srcOrd="0" destOrd="0" presId="urn:microsoft.com/office/officeart/2018/5/layout/IconLeafLabelList"/>
    <dgm:cxn modelId="{FCFA5AFF-D692-4BBC-A309-B44CD718E199}" type="presParOf" srcId="{9BAB03EB-5C0E-41C7-88D8-92BD895F7EFD}" destId="{2BF2181E-D193-4237-BDAB-8FCB55705345}" srcOrd="1" destOrd="0" presId="urn:microsoft.com/office/officeart/2018/5/layout/IconLeafLabelList"/>
    <dgm:cxn modelId="{192D28DB-CE4E-4CBF-9F0F-D965FA105010}" type="presParOf" srcId="{9BAB03EB-5C0E-41C7-88D8-92BD895F7EFD}" destId="{80B3EDA1-B6F6-4778-A0E8-571A1FED2A1E}" srcOrd="2" destOrd="0" presId="urn:microsoft.com/office/officeart/2018/5/layout/IconLeafLabelList"/>
    <dgm:cxn modelId="{3AD31C1D-32B8-4D8D-AE78-8075B762EB23}" type="presParOf" srcId="{9BAB03EB-5C0E-41C7-88D8-92BD895F7EFD}" destId="{114BA9BB-23DB-4D6C-BB24-8D63056A9D0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F93687-FAEC-4929-A267-9E7E193AFF4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38A1822-5E52-4FC3-A740-4F961AAD034F}">
      <dgm:prSet custT="1"/>
      <dgm:spPr/>
      <dgm:t>
        <a:bodyPr/>
        <a:lstStyle/>
        <a:p>
          <a:r>
            <a:rPr lang="en-US" sz="1800" dirty="0">
              <a:latin typeface="Cambria" panose="02040503050406030204" pitchFamily="18" charset="0"/>
              <a:ea typeface="Cambria" panose="02040503050406030204" pitchFamily="18" charset="0"/>
            </a:rPr>
            <a:t>Applicants originate from 95 unique countries</a:t>
          </a:r>
        </a:p>
      </dgm:t>
    </dgm:pt>
    <dgm:pt modelId="{0AC1B9F2-2C88-4015-92BE-7A1B158847CB}" type="parTrans" cxnId="{F3316592-36AB-435D-BD15-D78B7AFF12DB}">
      <dgm:prSet/>
      <dgm:spPr/>
      <dgm:t>
        <a:bodyPr/>
        <a:lstStyle/>
        <a:p>
          <a:endParaRPr lang="en-US"/>
        </a:p>
      </dgm:t>
    </dgm:pt>
    <dgm:pt modelId="{C8423463-CB74-4671-98A1-681044628D4E}" type="sibTrans" cxnId="{F3316592-36AB-435D-BD15-D78B7AFF12DB}">
      <dgm:prSet/>
      <dgm:spPr/>
      <dgm:t>
        <a:bodyPr/>
        <a:lstStyle/>
        <a:p>
          <a:endParaRPr lang="en-US"/>
        </a:p>
      </dgm:t>
    </dgm:pt>
    <dgm:pt modelId="{7D3E78B1-EED1-4444-9441-822FE5529F8F}">
      <dgm:prSet custT="1"/>
      <dgm:spPr/>
      <dgm:t>
        <a:bodyPr/>
        <a:lstStyle/>
        <a:p>
          <a:r>
            <a:rPr lang="en-US" sz="1800" dirty="0">
              <a:latin typeface="Cambria" panose="02040503050406030204" pitchFamily="18" charset="0"/>
              <a:ea typeface="Cambria" panose="02040503050406030204" pitchFamily="18" charset="0"/>
            </a:rPr>
            <a:t>Demonstrates strong international diversity</a:t>
          </a:r>
        </a:p>
      </dgm:t>
    </dgm:pt>
    <dgm:pt modelId="{C23CF7C5-D935-414F-A973-D8D82486F65D}" type="parTrans" cxnId="{0E2839FE-86A3-4F5D-9A6C-8A7210F3CAA5}">
      <dgm:prSet/>
      <dgm:spPr/>
      <dgm:t>
        <a:bodyPr/>
        <a:lstStyle/>
        <a:p>
          <a:endParaRPr lang="en-US"/>
        </a:p>
      </dgm:t>
    </dgm:pt>
    <dgm:pt modelId="{970F041E-DE9E-4AA7-9191-B8D985BD7454}" type="sibTrans" cxnId="{0E2839FE-86A3-4F5D-9A6C-8A7210F3CAA5}">
      <dgm:prSet/>
      <dgm:spPr/>
      <dgm:t>
        <a:bodyPr/>
        <a:lstStyle/>
        <a:p>
          <a:endParaRPr lang="en-US"/>
        </a:p>
      </dgm:t>
    </dgm:pt>
    <dgm:pt modelId="{705FBE5A-D6F8-4584-A771-F1DC424852F7}">
      <dgm:prSet/>
      <dgm:spPr/>
      <dgm:t>
        <a:bodyPr/>
        <a:lstStyle/>
        <a:p>
          <a:r>
            <a:rPr lang="en-US" dirty="0">
              <a:latin typeface="Cambria" panose="02040503050406030204" pitchFamily="18" charset="0"/>
              <a:ea typeface="Cambria" panose="02040503050406030204" pitchFamily="18" charset="0"/>
            </a:rPr>
            <a:t>Some records contain missing geographic information</a:t>
          </a:r>
        </a:p>
      </dgm:t>
    </dgm:pt>
    <dgm:pt modelId="{9B265527-8A4D-4DBD-902D-6184B215CA78}" type="parTrans" cxnId="{D247635A-D889-4878-BDDB-80BAAF0BDE80}">
      <dgm:prSet/>
      <dgm:spPr/>
      <dgm:t>
        <a:bodyPr/>
        <a:lstStyle/>
        <a:p>
          <a:endParaRPr lang="en-US"/>
        </a:p>
      </dgm:t>
    </dgm:pt>
    <dgm:pt modelId="{D1D06009-0754-4809-A53C-0F2A348E144D}" type="sibTrans" cxnId="{D247635A-D889-4878-BDDB-80BAAF0BDE80}">
      <dgm:prSet/>
      <dgm:spPr/>
      <dgm:t>
        <a:bodyPr/>
        <a:lstStyle/>
        <a:p>
          <a:endParaRPr lang="en-US"/>
        </a:p>
      </dgm:t>
    </dgm:pt>
    <dgm:pt modelId="{3BDEF6CF-8B00-4571-B49C-386CE0AC6EE7}">
      <dgm:prSet/>
      <dgm:spPr/>
      <dgm:t>
        <a:bodyPr/>
        <a:lstStyle/>
        <a:p>
          <a:r>
            <a:rPr lang="en-US" dirty="0">
              <a:latin typeface="Cambria" panose="02040503050406030204" pitchFamily="18" charset="0"/>
              <a:ea typeface="Cambria" panose="02040503050406030204" pitchFamily="18" charset="0"/>
            </a:rPr>
            <a:t>Emphasizes the need for geographic data validation</a:t>
          </a:r>
        </a:p>
      </dgm:t>
    </dgm:pt>
    <dgm:pt modelId="{C563584E-E863-4A99-9CA3-2763CDE81A66}" type="parTrans" cxnId="{C47DDE71-659D-461C-8D6F-02A0C2149061}">
      <dgm:prSet/>
      <dgm:spPr/>
      <dgm:t>
        <a:bodyPr/>
        <a:lstStyle/>
        <a:p>
          <a:endParaRPr lang="en-US"/>
        </a:p>
      </dgm:t>
    </dgm:pt>
    <dgm:pt modelId="{793D1088-44A2-456B-A794-DE08F9B3D3FF}" type="sibTrans" cxnId="{C47DDE71-659D-461C-8D6F-02A0C2149061}">
      <dgm:prSet/>
      <dgm:spPr/>
      <dgm:t>
        <a:bodyPr/>
        <a:lstStyle/>
        <a:p>
          <a:endParaRPr lang="en-US"/>
        </a:p>
      </dgm:t>
    </dgm:pt>
    <dgm:pt modelId="{E49A2031-5A79-4203-8728-8A1A3F8EAA17}" type="pres">
      <dgm:prSet presAssocID="{1BF93687-FAEC-4929-A267-9E7E193AFF48}" presName="root" presStyleCnt="0">
        <dgm:presLayoutVars>
          <dgm:dir/>
          <dgm:resizeHandles val="exact"/>
        </dgm:presLayoutVars>
      </dgm:prSet>
      <dgm:spPr/>
    </dgm:pt>
    <dgm:pt modelId="{B0B5031B-65FF-46D6-8FDA-303E9AEF4FF3}" type="pres">
      <dgm:prSet presAssocID="{F38A1822-5E52-4FC3-A740-4F961AAD034F}" presName="compNode" presStyleCnt="0"/>
      <dgm:spPr/>
    </dgm:pt>
    <dgm:pt modelId="{7181AC8F-9121-4C93-8D91-E19E33D19FCA}" type="pres">
      <dgm:prSet presAssocID="{F38A1822-5E52-4FC3-A740-4F961AAD034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8DBCF687-18D4-40EE-A7EE-C066E34CFA7C}" type="pres">
      <dgm:prSet presAssocID="{F38A1822-5E52-4FC3-A740-4F961AAD034F}" presName="spaceRect" presStyleCnt="0"/>
      <dgm:spPr/>
    </dgm:pt>
    <dgm:pt modelId="{C9C17163-DA44-49A8-9BB8-1AB55B702A1C}" type="pres">
      <dgm:prSet presAssocID="{F38A1822-5E52-4FC3-A740-4F961AAD034F}" presName="textRect" presStyleLbl="revTx" presStyleIdx="0" presStyleCnt="4">
        <dgm:presLayoutVars>
          <dgm:chMax val="1"/>
          <dgm:chPref val="1"/>
        </dgm:presLayoutVars>
      </dgm:prSet>
      <dgm:spPr/>
    </dgm:pt>
    <dgm:pt modelId="{6E9A4E8A-06D3-4F39-83BD-9D2454C17402}" type="pres">
      <dgm:prSet presAssocID="{C8423463-CB74-4671-98A1-681044628D4E}" presName="sibTrans" presStyleCnt="0"/>
      <dgm:spPr/>
    </dgm:pt>
    <dgm:pt modelId="{8B65A169-D935-470F-B52A-A945D7B7A029}" type="pres">
      <dgm:prSet presAssocID="{7D3E78B1-EED1-4444-9441-822FE5529F8F}" presName="compNode" presStyleCnt="0"/>
      <dgm:spPr/>
    </dgm:pt>
    <dgm:pt modelId="{5E6CB2DB-EEA8-415B-A20D-0E3DCE1C74CA}" type="pres">
      <dgm:prSet presAssocID="{7D3E78B1-EED1-4444-9441-822FE5529F8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Europe-Africa"/>
        </a:ext>
      </dgm:extLst>
    </dgm:pt>
    <dgm:pt modelId="{63FC9581-E129-4894-9FFC-A4277A40A3C0}" type="pres">
      <dgm:prSet presAssocID="{7D3E78B1-EED1-4444-9441-822FE5529F8F}" presName="spaceRect" presStyleCnt="0"/>
      <dgm:spPr/>
    </dgm:pt>
    <dgm:pt modelId="{34CC951B-497F-4017-A7FD-CCE6B8E59F7F}" type="pres">
      <dgm:prSet presAssocID="{7D3E78B1-EED1-4444-9441-822FE5529F8F}" presName="textRect" presStyleLbl="revTx" presStyleIdx="1" presStyleCnt="4">
        <dgm:presLayoutVars>
          <dgm:chMax val="1"/>
          <dgm:chPref val="1"/>
        </dgm:presLayoutVars>
      </dgm:prSet>
      <dgm:spPr/>
    </dgm:pt>
    <dgm:pt modelId="{E7BB5E55-8E25-497F-BB95-6C01C8FFE798}" type="pres">
      <dgm:prSet presAssocID="{970F041E-DE9E-4AA7-9191-B8D985BD7454}" presName="sibTrans" presStyleCnt="0"/>
      <dgm:spPr/>
    </dgm:pt>
    <dgm:pt modelId="{1B518F0D-D4BD-488E-9567-87005816E3C5}" type="pres">
      <dgm:prSet presAssocID="{705FBE5A-D6F8-4584-A771-F1DC424852F7}" presName="compNode" presStyleCnt="0"/>
      <dgm:spPr/>
    </dgm:pt>
    <dgm:pt modelId="{505C0FC6-B463-4219-B603-4A710B26BBD4}" type="pres">
      <dgm:prSet presAssocID="{705FBE5A-D6F8-4584-A771-F1DC424852F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9E2E27D5-AE21-4432-B642-661490272EE5}" type="pres">
      <dgm:prSet presAssocID="{705FBE5A-D6F8-4584-A771-F1DC424852F7}" presName="spaceRect" presStyleCnt="0"/>
      <dgm:spPr/>
    </dgm:pt>
    <dgm:pt modelId="{08B4DBEA-9372-4FD8-8303-BB9924AFDEB7}" type="pres">
      <dgm:prSet presAssocID="{705FBE5A-D6F8-4584-A771-F1DC424852F7}" presName="textRect" presStyleLbl="revTx" presStyleIdx="2" presStyleCnt="4">
        <dgm:presLayoutVars>
          <dgm:chMax val="1"/>
          <dgm:chPref val="1"/>
        </dgm:presLayoutVars>
      </dgm:prSet>
      <dgm:spPr/>
    </dgm:pt>
    <dgm:pt modelId="{96314B25-519D-4972-9166-17A92E907131}" type="pres">
      <dgm:prSet presAssocID="{D1D06009-0754-4809-A53C-0F2A348E144D}" presName="sibTrans" presStyleCnt="0"/>
      <dgm:spPr/>
    </dgm:pt>
    <dgm:pt modelId="{0EBDE1D1-1176-4D0E-BA12-5E3893DFBBBE}" type="pres">
      <dgm:prSet presAssocID="{3BDEF6CF-8B00-4571-B49C-386CE0AC6EE7}" presName="compNode" presStyleCnt="0"/>
      <dgm:spPr/>
    </dgm:pt>
    <dgm:pt modelId="{226959B1-CD57-42AE-8D8F-F71DF9DDD8A3}" type="pres">
      <dgm:prSet presAssocID="{3BDEF6CF-8B00-4571-B49C-386CE0AC6EE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51C4F5B-A64C-4CFE-898A-B33BFF9181BD}" type="pres">
      <dgm:prSet presAssocID="{3BDEF6CF-8B00-4571-B49C-386CE0AC6EE7}" presName="spaceRect" presStyleCnt="0"/>
      <dgm:spPr/>
    </dgm:pt>
    <dgm:pt modelId="{9B07FF06-79AC-47AC-A8E7-011B0BF8FA8F}" type="pres">
      <dgm:prSet presAssocID="{3BDEF6CF-8B00-4571-B49C-386CE0AC6EE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C6CB267-CD3B-422B-A7DB-0863EE86BD8D}" type="presOf" srcId="{F38A1822-5E52-4FC3-A740-4F961AAD034F}" destId="{C9C17163-DA44-49A8-9BB8-1AB55B702A1C}" srcOrd="0" destOrd="0" presId="urn:microsoft.com/office/officeart/2018/2/layout/IconLabelList"/>
    <dgm:cxn modelId="{C47DDE71-659D-461C-8D6F-02A0C2149061}" srcId="{1BF93687-FAEC-4929-A267-9E7E193AFF48}" destId="{3BDEF6CF-8B00-4571-B49C-386CE0AC6EE7}" srcOrd="3" destOrd="0" parTransId="{C563584E-E863-4A99-9CA3-2763CDE81A66}" sibTransId="{793D1088-44A2-456B-A794-DE08F9B3D3FF}"/>
    <dgm:cxn modelId="{BDBC8758-243F-4ABB-95CB-B2E6EDB308B3}" type="presOf" srcId="{3BDEF6CF-8B00-4571-B49C-386CE0AC6EE7}" destId="{9B07FF06-79AC-47AC-A8E7-011B0BF8FA8F}" srcOrd="0" destOrd="0" presId="urn:microsoft.com/office/officeart/2018/2/layout/IconLabelList"/>
    <dgm:cxn modelId="{D247635A-D889-4878-BDDB-80BAAF0BDE80}" srcId="{1BF93687-FAEC-4929-A267-9E7E193AFF48}" destId="{705FBE5A-D6F8-4584-A771-F1DC424852F7}" srcOrd="2" destOrd="0" parTransId="{9B265527-8A4D-4DBD-902D-6184B215CA78}" sibTransId="{D1D06009-0754-4809-A53C-0F2A348E144D}"/>
    <dgm:cxn modelId="{B6544883-B42D-484E-98A7-C602B2D07F75}" type="presOf" srcId="{1BF93687-FAEC-4929-A267-9E7E193AFF48}" destId="{E49A2031-5A79-4203-8728-8A1A3F8EAA17}" srcOrd="0" destOrd="0" presId="urn:microsoft.com/office/officeart/2018/2/layout/IconLabelList"/>
    <dgm:cxn modelId="{F3316592-36AB-435D-BD15-D78B7AFF12DB}" srcId="{1BF93687-FAEC-4929-A267-9E7E193AFF48}" destId="{F38A1822-5E52-4FC3-A740-4F961AAD034F}" srcOrd="0" destOrd="0" parTransId="{0AC1B9F2-2C88-4015-92BE-7A1B158847CB}" sibTransId="{C8423463-CB74-4671-98A1-681044628D4E}"/>
    <dgm:cxn modelId="{D1F5D69B-8D93-458A-A12F-2F656BF84C17}" type="presOf" srcId="{705FBE5A-D6F8-4584-A771-F1DC424852F7}" destId="{08B4DBEA-9372-4FD8-8303-BB9924AFDEB7}" srcOrd="0" destOrd="0" presId="urn:microsoft.com/office/officeart/2018/2/layout/IconLabelList"/>
    <dgm:cxn modelId="{C46A33DC-D210-4736-845F-485BB0A2041A}" type="presOf" srcId="{7D3E78B1-EED1-4444-9441-822FE5529F8F}" destId="{34CC951B-497F-4017-A7FD-CCE6B8E59F7F}" srcOrd="0" destOrd="0" presId="urn:microsoft.com/office/officeart/2018/2/layout/IconLabelList"/>
    <dgm:cxn modelId="{0E2839FE-86A3-4F5D-9A6C-8A7210F3CAA5}" srcId="{1BF93687-FAEC-4929-A267-9E7E193AFF48}" destId="{7D3E78B1-EED1-4444-9441-822FE5529F8F}" srcOrd="1" destOrd="0" parTransId="{C23CF7C5-D935-414F-A973-D8D82486F65D}" sibTransId="{970F041E-DE9E-4AA7-9191-B8D985BD7454}"/>
    <dgm:cxn modelId="{F74297E3-BEC8-47A2-AB0C-A3D915ACDF48}" type="presParOf" srcId="{E49A2031-5A79-4203-8728-8A1A3F8EAA17}" destId="{B0B5031B-65FF-46D6-8FDA-303E9AEF4FF3}" srcOrd="0" destOrd="0" presId="urn:microsoft.com/office/officeart/2018/2/layout/IconLabelList"/>
    <dgm:cxn modelId="{C69027F6-EDCB-4D68-AF8A-935299C9ADEF}" type="presParOf" srcId="{B0B5031B-65FF-46D6-8FDA-303E9AEF4FF3}" destId="{7181AC8F-9121-4C93-8D91-E19E33D19FCA}" srcOrd="0" destOrd="0" presId="urn:microsoft.com/office/officeart/2018/2/layout/IconLabelList"/>
    <dgm:cxn modelId="{B1D4B93A-AC86-44CF-844B-4F5FA98E0125}" type="presParOf" srcId="{B0B5031B-65FF-46D6-8FDA-303E9AEF4FF3}" destId="{8DBCF687-18D4-40EE-A7EE-C066E34CFA7C}" srcOrd="1" destOrd="0" presId="urn:microsoft.com/office/officeart/2018/2/layout/IconLabelList"/>
    <dgm:cxn modelId="{3BEA9A59-D358-4C59-89AC-1D17ACB3699E}" type="presParOf" srcId="{B0B5031B-65FF-46D6-8FDA-303E9AEF4FF3}" destId="{C9C17163-DA44-49A8-9BB8-1AB55B702A1C}" srcOrd="2" destOrd="0" presId="urn:microsoft.com/office/officeart/2018/2/layout/IconLabelList"/>
    <dgm:cxn modelId="{5B735D9A-BBE9-4BA6-93EC-3E946AD2D55E}" type="presParOf" srcId="{E49A2031-5A79-4203-8728-8A1A3F8EAA17}" destId="{6E9A4E8A-06D3-4F39-83BD-9D2454C17402}" srcOrd="1" destOrd="0" presId="urn:microsoft.com/office/officeart/2018/2/layout/IconLabelList"/>
    <dgm:cxn modelId="{65DC8778-197D-46D6-B388-C4D2775D9B4B}" type="presParOf" srcId="{E49A2031-5A79-4203-8728-8A1A3F8EAA17}" destId="{8B65A169-D935-470F-B52A-A945D7B7A029}" srcOrd="2" destOrd="0" presId="urn:microsoft.com/office/officeart/2018/2/layout/IconLabelList"/>
    <dgm:cxn modelId="{B31B4540-82B0-47B8-899C-85766571B325}" type="presParOf" srcId="{8B65A169-D935-470F-B52A-A945D7B7A029}" destId="{5E6CB2DB-EEA8-415B-A20D-0E3DCE1C74CA}" srcOrd="0" destOrd="0" presId="urn:microsoft.com/office/officeart/2018/2/layout/IconLabelList"/>
    <dgm:cxn modelId="{29F64908-FAF2-439D-8D79-CB4963EF0552}" type="presParOf" srcId="{8B65A169-D935-470F-B52A-A945D7B7A029}" destId="{63FC9581-E129-4894-9FFC-A4277A40A3C0}" srcOrd="1" destOrd="0" presId="urn:microsoft.com/office/officeart/2018/2/layout/IconLabelList"/>
    <dgm:cxn modelId="{6DD4BB0D-7B71-4D0C-8507-7B875DC0547A}" type="presParOf" srcId="{8B65A169-D935-470F-B52A-A945D7B7A029}" destId="{34CC951B-497F-4017-A7FD-CCE6B8E59F7F}" srcOrd="2" destOrd="0" presId="urn:microsoft.com/office/officeart/2018/2/layout/IconLabelList"/>
    <dgm:cxn modelId="{DBCC2BF8-AE7C-4F32-B1D0-F38DF716ABB7}" type="presParOf" srcId="{E49A2031-5A79-4203-8728-8A1A3F8EAA17}" destId="{E7BB5E55-8E25-497F-BB95-6C01C8FFE798}" srcOrd="3" destOrd="0" presId="urn:microsoft.com/office/officeart/2018/2/layout/IconLabelList"/>
    <dgm:cxn modelId="{42611E1D-6115-4AC1-ADC5-0938625AE1A3}" type="presParOf" srcId="{E49A2031-5A79-4203-8728-8A1A3F8EAA17}" destId="{1B518F0D-D4BD-488E-9567-87005816E3C5}" srcOrd="4" destOrd="0" presId="urn:microsoft.com/office/officeart/2018/2/layout/IconLabelList"/>
    <dgm:cxn modelId="{EEC86C58-F452-4A98-BAEF-08080BE5C7DC}" type="presParOf" srcId="{1B518F0D-D4BD-488E-9567-87005816E3C5}" destId="{505C0FC6-B463-4219-B603-4A710B26BBD4}" srcOrd="0" destOrd="0" presId="urn:microsoft.com/office/officeart/2018/2/layout/IconLabelList"/>
    <dgm:cxn modelId="{9A7775E2-E8CA-43C4-A46B-823DFF171F4C}" type="presParOf" srcId="{1B518F0D-D4BD-488E-9567-87005816E3C5}" destId="{9E2E27D5-AE21-4432-B642-661490272EE5}" srcOrd="1" destOrd="0" presId="urn:microsoft.com/office/officeart/2018/2/layout/IconLabelList"/>
    <dgm:cxn modelId="{41C5AD05-3277-445E-9E2B-73B577A66031}" type="presParOf" srcId="{1B518F0D-D4BD-488E-9567-87005816E3C5}" destId="{08B4DBEA-9372-4FD8-8303-BB9924AFDEB7}" srcOrd="2" destOrd="0" presId="urn:microsoft.com/office/officeart/2018/2/layout/IconLabelList"/>
    <dgm:cxn modelId="{A709C85C-68E7-41E8-9D50-A81065CE7101}" type="presParOf" srcId="{E49A2031-5A79-4203-8728-8A1A3F8EAA17}" destId="{96314B25-519D-4972-9166-17A92E907131}" srcOrd="5" destOrd="0" presId="urn:microsoft.com/office/officeart/2018/2/layout/IconLabelList"/>
    <dgm:cxn modelId="{ECAF48D9-8906-4950-874D-49DB93C18915}" type="presParOf" srcId="{E49A2031-5A79-4203-8728-8A1A3F8EAA17}" destId="{0EBDE1D1-1176-4D0E-BA12-5E3893DFBBBE}" srcOrd="6" destOrd="0" presId="urn:microsoft.com/office/officeart/2018/2/layout/IconLabelList"/>
    <dgm:cxn modelId="{109D4A84-A8EC-4FCD-A686-A41CE6B8B47D}" type="presParOf" srcId="{0EBDE1D1-1176-4D0E-BA12-5E3893DFBBBE}" destId="{226959B1-CD57-42AE-8D8F-F71DF9DDD8A3}" srcOrd="0" destOrd="0" presId="urn:microsoft.com/office/officeart/2018/2/layout/IconLabelList"/>
    <dgm:cxn modelId="{ACA5A46A-946C-4104-B30D-FA40066DAFB6}" type="presParOf" srcId="{0EBDE1D1-1176-4D0E-BA12-5E3893DFBBBE}" destId="{151C4F5B-A64C-4CFE-898A-B33BFF9181BD}" srcOrd="1" destOrd="0" presId="urn:microsoft.com/office/officeart/2018/2/layout/IconLabelList"/>
    <dgm:cxn modelId="{6FA5A061-44F0-4695-9FAC-301D25E52EE8}" type="presParOf" srcId="{0EBDE1D1-1176-4D0E-BA12-5E3893DFBBBE}" destId="{9B07FF06-79AC-47AC-A8E7-011B0BF8FA8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53DCA9-0BDD-44C9-8FEF-2918A28C2244}">
      <dsp:nvSpPr>
        <dsp:cNvPr id="0" name=""/>
        <dsp:cNvSpPr/>
      </dsp:nvSpPr>
      <dsp:spPr>
        <a:xfrm>
          <a:off x="714506" y="15459"/>
          <a:ext cx="1578375" cy="15783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F692B8-3E8B-4B1D-9590-5E69CBF5E1BB}">
      <dsp:nvSpPr>
        <dsp:cNvPr id="0" name=""/>
        <dsp:cNvSpPr/>
      </dsp:nvSpPr>
      <dsp:spPr>
        <a:xfrm>
          <a:off x="1050881" y="351834"/>
          <a:ext cx="905625" cy="9056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84FDDE-86FF-4339-B2FE-068DD59AC21C}">
      <dsp:nvSpPr>
        <dsp:cNvPr id="0" name=""/>
        <dsp:cNvSpPr/>
      </dsp:nvSpPr>
      <dsp:spPr>
        <a:xfrm>
          <a:off x="209943" y="2085459"/>
          <a:ext cx="25875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>
              <a:latin typeface="Cambria" panose="02040503050406030204" pitchFamily="18" charset="0"/>
              <a:ea typeface="Cambria" panose="02040503050406030204" pitchFamily="18" charset="0"/>
            </a:rPr>
            <a:t>This project analyzes international student application data from DePaul University</a:t>
          </a:r>
        </a:p>
      </dsp:txBody>
      <dsp:txXfrm>
        <a:off x="209943" y="2085459"/>
        <a:ext cx="2587500" cy="855000"/>
      </dsp:txXfrm>
    </dsp:sp>
    <dsp:sp modelId="{C84ABED1-9830-4E48-9C5C-FE8A8C3D2E78}">
      <dsp:nvSpPr>
        <dsp:cNvPr id="0" name=""/>
        <dsp:cNvSpPr/>
      </dsp:nvSpPr>
      <dsp:spPr>
        <a:xfrm>
          <a:off x="3754819" y="15459"/>
          <a:ext cx="1578375" cy="15783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90E2EC-6891-4E20-A09C-F5508997155D}">
      <dsp:nvSpPr>
        <dsp:cNvPr id="0" name=""/>
        <dsp:cNvSpPr/>
      </dsp:nvSpPr>
      <dsp:spPr>
        <a:xfrm>
          <a:off x="4091194" y="351834"/>
          <a:ext cx="905625" cy="9056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2EF2D-42ED-47C2-BAA6-849483A0ADE0}">
      <dsp:nvSpPr>
        <dsp:cNvPr id="0" name=""/>
        <dsp:cNvSpPr/>
      </dsp:nvSpPr>
      <dsp:spPr>
        <a:xfrm>
          <a:off x="3250256" y="2085459"/>
          <a:ext cx="25875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>
              <a:latin typeface="Cambria" panose="02040503050406030204" pitchFamily="18" charset="0"/>
              <a:ea typeface="Cambria" panose="02040503050406030204" pitchFamily="18" charset="0"/>
            </a:rPr>
            <a:t>The aim is to identify recruitment patterns, program demand, and application outcomes</a:t>
          </a:r>
        </a:p>
      </dsp:txBody>
      <dsp:txXfrm>
        <a:off x="3250256" y="2085459"/>
        <a:ext cx="2587500" cy="855000"/>
      </dsp:txXfrm>
    </dsp:sp>
    <dsp:sp modelId="{D86DC841-E17A-4EFE-8F77-055EE2F4FFB8}">
      <dsp:nvSpPr>
        <dsp:cNvPr id="0" name=""/>
        <dsp:cNvSpPr/>
      </dsp:nvSpPr>
      <dsp:spPr>
        <a:xfrm>
          <a:off x="6795131" y="15459"/>
          <a:ext cx="1578375" cy="15783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F2181E-D193-4237-BDAB-8FCB55705345}">
      <dsp:nvSpPr>
        <dsp:cNvPr id="0" name=""/>
        <dsp:cNvSpPr/>
      </dsp:nvSpPr>
      <dsp:spPr>
        <a:xfrm>
          <a:off x="7131506" y="351834"/>
          <a:ext cx="905625" cy="9056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4BA9BB-23DB-4D6C-BB24-8D63056A9D06}">
      <dsp:nvSpPr>
        <dsp:cNvPr id="0" name=""/>
        <dsp:cNvSpPr/>
      </dsp:nvSpPr>
      <dsp:spPr>
        <a:xfrm>
          <a:off x="6290569" y="2085459"/>
          <a:ext cx="25875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>
              <a:latin typeface="Cambria" panose="02040503050406030204" pitchFamily="18" charset="0"/>
              <a:ea typeface="Cambria" panose="02040503050406030204" pitchFamily="18" charset="0"/>
            </a:rPr>
            <a:t>Data analytics techniques were applied to support strategic admissions decision-making</a:t>
          </a:r>
        </a:p>
      </dsp:txBody>
      <dsp:txXfrm>
        <a:off x="6290569" y="2085459"/>
        <a:ext cx="2587500" cy="85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1AC8F-9121-4C93-8D91-E19E33D19FCA}">
      <dsp:nvSpPr>
        <dsp:cNvPr id="0" name=""/>
        <dsp:cNvSpPr/>
      </dsp:nvSpPr>
      <dsp:spPr>
        <a:xfrm>
          <a:off x="838666" y="815486"/>
          <a:ext cx="1073164" cy="10731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17163-DA44-49A8-9BB8-1AB55B702A1C}">
      <dsp:nvSpPr>
        <dsp:cNvPr id="0" name=""/>
        <dsp:cNvSpPr/>
      </dsp:nvSpPr>
      <dsp:spPr>
        <a:xfrm>
          <a:off x="182843" y="2209151"/>
          <a:ext cx="2384809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mbria" panose="02040503050406030204" pitchFamily="18" charset="0"/>
              <a:ea typeface="Cambria" panose="02040503050406030204" pitchFamily="18" charset="0"/>
            </a:rPr>
            <a:t>Applicants originate from 95 unique countries</a:t>
          </a:r>
        </a:p>
      </dsp:txBody>
      <dsp:txXfrm>
        <a:off x="182843" y="2209151"/>
        <a:ext cx="2384809" cy="742500"/>
      </dsp:txXfrm>
    </dsp:sp>
    <dsp:sp modelId="{5E6CB2DB-EEA8-415B-A20D-0E3DCE1C74CA}">
      <dsp:nvSpPr>
        <dsp:cNvPr id="0" name=""/>
        <dsp:cNvSpPr/>
      </dsp:nvSpPr>
      <dsp:spPr>
        <a:xfrm>
          <a:off x="3640817" y="815486"/>
          <a:ext cx="1073164" cy="10731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CC951B-497F-4017-A7FD-CCE6B8E59F7F}">
      <dsp:nvSpPr>
        <dsp:cNvPr id="0" name=""/>
        <dsp:cNvSpPr/>
      </dsp:nvSpPr>
      <dsp:spPr>
        <a:xfrm>
          <a:off x="2984994" y="2209151"/>
          <a:ext cx="2384809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mbria" panose="02040503050406030204" pitchFamily="18" charset="0"/>
              <a:ea typeface="Cambria" panose="02040503050406030204" pitchFamily="18" charset="0"/>
            </a:rPr>
            <a:t>Demonstrates strong international diversity</a:t>
          </a:r>
        </a:p>
      </dsp:txBody>
      <dsp:txXfrm>
        <a:off x="2984994" y="2209151"/>
        <a:ext cx="2384809" cy="742500"/>
      </dsp:txXfrm>
    </dsp:sp>
    <dsp:sp modelId="{505C0FC6-B463-4219-B603-4A710B26BBD4}">
      <dsp:nvSpPr>
        <dsp:cNvPr id="0" name=""/>
        <dsp:cNvSpPr/>
      </dsp:nvSpPr>
      <dsp:spPr>
        <a:xfrm>
          <a:off x="6442968" y="815486"/>
          <a:ext cx="1073164" cy="10731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B4DBEA-9372-4FD8-8303-BB9924AFDEB7}">
      <dsp:nvSpPr>
        <dsp:cNvPr id="0" name=""/>
        <dsp:cNvSpPr/>
      </dsp:nvSpPr>
      <dsp:spPr>
        <a:xfrm>
          <a:off x="5787145" y="2209151"/>
          <a:ext cx="2384809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mbria" panose="02040503050406030204" pitchFamily="18" charset="0"/>
              <a:ea typeface="Cambria" panose="02040503050406030204" pitchFamily="18" charset="0"/>
            </a:rPr>
            <a:t>Some records contain missing geographic information</a:t>
          </a:r>
        </a:p>
      </dsp:txBody>
      <dsp:txXfrm>
        <a:off x="5787145" y="2209151"/>
        <a:ext cx="2384809" cy="742500"/>
      </dsp:txXfrm>
    </dsp:sp>
    <dsp:sp modelId="{226959B1-CD57-42AE-8D8F-F71DF9DDD8A3}">
      <dsp:nvSpPr>
        <dsp:cNvPr id="0" name=""/>
        <dsp:cNvSpPr/>
      </dsp:nvSpPr>
      <dsp:spPr>
        <a:xfrm>
          <a:off x="9245119" y="815486"/>
          <a:ext cx="1073164" cy="10731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7FF06-79AC-47AC-A8E7-011B0BF8FA8F}">
      <dsp:nvSpPr>
        <dsp:cNvPr id="0" name=""/>
        <dsp:cNvSpPr/>
      </dsp:nvSpPr>
      <dsp:spPr>
        <a:xfrm>
          <a:off x="8589296" y="2209151"/>
          <a:ext cx="2384809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mbria" panose="02040503050406030204" pitchFamily="18" charset="0"/>
              <a:ea typeface="Cambria" panose="02040503050406030204" pitchFamily="18" charset="0"/>
            </a:rPr>
            <a:t>Emphasizes the need for geographic data validation</a:t>
          </a:r>
        </a:p>
      </dsp:txBody>
      <dsp:txXfrm>
        <a:off x="8589296" y="2209151"/>
        <a:ext cx="2384809" cy="74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251B4A-F557-4903-B4CB-62521690644D}" type="datetimeFigureOut">
              <a:rPr lang="en-ZA" smtClean="0"/>
              <a:t>2026/03/02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D56B27-FC64-47FD-B05A-BE16167F8FF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61991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2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97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51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0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76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09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19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093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2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83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89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01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6F6027C2-971F-6B8F-E7CB-2F5ED2F38D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8825" b="10863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09C688-E5BD-C0B8-77AC-CC108C811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718" y="1922306"/>
            <a:ext cx="5381485" cy="245059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3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DePaul University International Applications: </a:t>
            </a:r>
            <a:br>
              <a:rPr lang="en-US" sz="33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3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Improving Admissions and Outreach Strategies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B364B-23D6-62FA-BD20-0B3ABF24D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ZA" sz="2400" b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Team 10</a:t>
            </a:r>
            <a:endParaRPr lang="en-ZA" sz="24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0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50088-9252-CBC6-838A-DD410D129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800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AEFA85D3-9EFE-40CE-AABB-ED56B34B4E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8846353"/>
              </p:ext>
            </p:extLst>
          </p:nvPr>
        </p:nvGraphicFramePr>
        <p:xfrm>
          <a:off x="1665486" y="2232669"/>
          <a:ext cx="9088013" cy="29559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2649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C32CD27-7027-AB2B-38F1-71C08EB84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A2E92-5285-CF82-E069-E57894298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1535" y="978408"/>
            <a:ext cx="6485161" cy="1463040"/>
          </a:xfrm>
        </p:spPr>
        <p:txBody>
          <a:bodyPr>
            <a:normAutofit/>
          </a:bodyPr>
          <a:lstStyle/>
          <a:p>
            <a:r>
              <a:rPr lang="en-ZA" dirty="0">
                <a:latin typeface="Cambria" panose="02040503050406030204" pitchFamily="18" charset="0"/>
                <a:ea typeface="Cambria" panose="02040503050406030204" pitchFamily="18" charset="0"/>
              </a:rPr>
              <a:t>Overview of the 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BB3835-2EB3-86A5-D2AA-8DE516120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79" r="21848" b="1"/>
          <a:stretch>
            <a:fillRect/>
          </a:stretch>
        </p:blipFill>
        <p:spPr>
          <a:xfrm>
            <a:off x="517869" y="508091"/>
            <a:ext cx="4221911" cy="5837918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6DD38CD-CFFE-4ABA-3DC8-01ED90559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4611" y="508090"/>
            <a:ext cx="6186474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1D3A3-9442-77DE-47D5-56F993DF6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9744" y="2224646"/>
            <a:ext cx="6236208" cy="3767328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The Dataset contains:</a:t>
            </a: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7,543 international application records</a:t>
            </a:r>
          </a:p>
          <a:p>
            <a:pPr algn="just"/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80 variables describing applicant and application details</a:t>
            </a:r>
          </a:p>
          <a:p>
            <a:pPr algn="just"/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Covers multiple intake periods, mainly Fall 2024 and Fall 2025</a:t>
            </a:r>
          </a:p>
          <a:p>
            <a:pPr algn="just"/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Represents applicants from diverse international backgrounds</a:t>
            </a:r>
          </a:p>
          <a:p>
            <a:pPr algn="just"/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Data collected from admissions and recruitment systems</a:t>
            </a:r>
          </a:p>
          <a:p>
            <a:pPr marL="0" indent="0">
              <a:buNone/>
            </a:pPr>
            <a:endParaRPr lang="en-ZA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931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8B917-3978-AFC6-D117-EC923FFF8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ZA" sz="5400" dirty="0">
                <a:latin typeface="Cambria" panose="02040503050406030204" pitchFamily="18" charset="0"/>
                <a:ea typeface="Cambria" panose="02040503050406030204" pitchFamily="18" charset="0"/>
              </a:rPr>
              <a:t>Dataset Composition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3B4D2A-1C6E-88C4-13EE-86961B4267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79" r="751" b="-1"/>
          <a:stretch>
            <a:fillRect/>
          </a:stretch>
        </p:blipFill>
        <p:spPr>
          <a:xfrm>
            <a:off x="517866" y="2299390"/>
            <a:ext cx="5578133" cy="404856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6E2C0-C2C5-AB1E-9A56-7DB707EE8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867" y="2107366"/>
            <a:ext cx="5157216" cy="405079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Outreach and communication records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Application processing information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Campaign management data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Academic program selection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Personal and demographic information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Immigration and post-admission indicators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37108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EC70C9-919B-7B04-33CE-E5EE389CC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ZA" sz="4800" dirty="0">
                <a:latin typeface="Cambria" panose="02040503050406030204" pitchFamily="18" charset="0"/>
                <a:ea typeface="Cambria" panose="02040503050406030204" pitchFamily="18" charset="0"/>
              </a:rPr>
              <a:t>Geographic Scope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E927F4-2BCB-E264-FC9C-62C708ED22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5856748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0469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30441-DE69-0CCB-4735-35FCF1BB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16176"/>
            <a:ext cx="11155680" cy="146304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Tools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1C5B2-9E2A-D29E-317A-2D24A8851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724677"/>
            <a:ext cx="11504822" cy="4662849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2600" b="1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Tools:</a:t>
            </a:r>
            <a:endParaRPr lang="en-US" sz="2600" dirty="0">
              <a:solidFill>
                <a:schemeClr val="tx1">
                  <a:alpha val="8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6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Excel &amp; Power Query </a:t>
            </a:r>
          </a:p>
          <a:p>
            <a:pPr algn="just"/>
            <a:r>
              <a:rPr lang="en-US" sz="26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Power Pivot </a:t>
            </a:r>
          </a:p>
          <a:p>
            <a:pPr algn="just"/>
            <a:r>
              <a:rPr lang="en-US" sz="26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Looker Studio </a:t>
            </a:r>
          </a:p>
          <a:p>
            <a:pPr algn="just"/>
            <a:r>
              <a:rPr lang="en-US" sz="26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Google Sheets</a:t>
            </a:r>
          </a:p>
          <a:p>
            <a:pPr marL="0" indent="0" algn="just">
              <a:buNone/>
            </a:pPr>
            <a:endParaRPr lang="en-US" sz="2600" dirty="0">
              <a:solidFill>
                <a:schemeClr val="tx1">
                  <a:alpha val="8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600" b="1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Methodology:</a:t>
            </a:r>
            <a:endParaRPr lang="en-US" sz="2600" dirty="0">
              <a:solidFill>
                <a:schemeClr val="tx1">
                  <a:alpha val="8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600" b="1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Cleaning:</a:t>
            </a:r>
            <a:r>
              <a:rPr lang="en-US" sz="26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Removed duplicates, null columns, and standardized values (7,543 to 5,000 records)</a:t>
            </a:r>
          </a:p>
          <a:p>
            <a:pPr algn="just"/>
            <a:r>
              <a:rPr lang="en-US" sz="2600" b="1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Analysis:</a:t>
            </a:r>
            <a:r>
              <a:rPr lang="en-US" sz="26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Examined geographic, program, college, temporal, and channel patterns</a:t>
            </a:r>
          </a:p>
          <a:p>
            <a:pPr algn="just"/>
            <a:r>
              <a:rPr lang="en-US" sz="2600" b="1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Dashboard Design:</a:t>
            </a:r>
            <a:r>
              <a:rPr lang="en-US" sz="26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Built KPIs and visualizations answering strategic questions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070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2472C-D980-BC2C-A9D3-2A46C4C14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5400" dirty="0">
                <a:latin typeface="Cambria" panose="02040503050406030204" pitchFamily="18" charset="0"/>
                <a:ea typeface="Cambria" panose="02040503050406030204" pitchFamily="18" charset="0"/>
              </a:rPr>
              <a:t>Data Quality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F08EA-37C7-067D-F144-908BEA0F6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230251"/>
            <a:ext cx="11155680" cy="37673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The following data quality issues were identified in the DePaul Dataset: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ZA" sz="2800" dirty="0">
                <a:latin typeface="Cambria" panose="02040503050406030204" pitchFamily="18" charset="0"/>
                <a:ea typeface="Cambria" panose="02040503050406030204" pitchFamily="18" charset="0"/>
              </a:rPr>
              <a:t>38 variables contained 100% missing values, making them unusable for analysis.</a:t>
            </a:r>
          </a:p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Duplicate columns, rows and  system-generated timestamp fields were identified.</a:t>
            </a:r>
          </a:p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Inconsistencies existed in country and program naming.</a:t>
            </a:r>
          </a:p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Placeholder values appeared in text-based fields.</a:t>
            </a:r>
          </a:p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Duplicate application records.</a:t>
            </a:r>
          </a:p>
        </p:txBody>
      </p:sp>
    </p:spTree>
    <p:extLst>
      <p:ext uri="{BB962C8B-B14F-4D97-AF65-F5344CB8AC3E}">
        <p14:creationId xmlns:p14="http://schemas.microsoft.com/office/powerpoint/2010/main" val="1935032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5A7E4C-47FE-6F3A-5C7E-2AA853611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2" y="816471"/>
            <a:ext cx="11155680" cy="1115568"/>
          </a:xfrm>
        </p:spPr>
        <p:txBody>
          <a:bodyPr>
            <a:normAutofit/>
          </a:bodyPr>
          <a:lstStyle/>
          <a:p>
            <a:r>
              <a:rPr lang="en-ZA" sz="4800" dirty="0">
                <a:latin typeface="Cambria" panose="02040503050406030204" pitchFamily="18" charset="0"/>
                <a:ea typeface="Cambria" panose="02040503050406030204" pitchFamily="18" charset="0"/>
              </a:rPr>
              <a:t>Data Preparation and Cleaning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23C9D2-F579-CCFA-FD70-80CCBD3B5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8" y="2453765"/>
            <a:ext cx="3877151" cy="37640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FB606-C3F2-0D52-541E-712F91056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8923" y="1763162"/>
            <a:ext cx="7281869" cy="470473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ZA" sz="2000" b="1" dirty="0">
                <a:latin typeface="Cambria" panose="02040503050406030204" pitchFamily="18" charset="0"/>
                <a:ea typeface="Cambria" panose="02040503050406030204" pitchFamily="18" charset="0"/>
              </a:rPr>
              <a:t>A systematic data cleaning process was undertaken to improve data quality and analytical reliability: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100% NULL columns were removed.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Duplicate records were removed.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Columns irrelevant to analysis were removed (e.g., email, phone number, etc.)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Country and program names were standardized, and spelling inconsistencies were resolved.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Desired Program and Admission flag columns created.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Placeholders and NULLs in the name columns were resolved.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Admit_date column was standardized, and NULL rows were left as such for pending admissions.</a:t>
            </a:r>
          </a:p>
          <a:p>
            <a:pPr>
              <a:lnSpc>
                <a:spcPct val="100000"/>
              </a:lnSpc>
            </a:pPr>
            <a:endParaRPr lang="en-ZA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977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769888-B424-DFA9-9D45-CBDCEAE05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ZA">
                <a:latin typeface="Cambria" panose="02040503050406030204" pitchFamily="18" charset="0"/>
                <a:ea typeface="Cambria" panose="02040503050406030204" pitchFamily="18" charset="0"/>
              </a:rPr>
              <a:t>Impact of Data Cleaning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AA533C-01E4-D689-7982-AFD599C3F6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1498598"/>
              </p:ext>
            </p:extLst>
          </p:nvPr>
        </p:nvGraphicFramePr>
        <p:xfrm>
          <a:off x="943897" y="2080167"/>
          <a:ext cx="10118845" cy="1621678"/>
        </p:xfrm>
        <a:graphic>
          <a:graphicData uri="http://schemas.openxmlformats.org/drawingml/2006/table">
            <a:tbl>
              <a:tblPr firstRow="1" firstCol="1" bandRow="1"/>
              <a:tblGrid>
                <a:gridCol w="3813558">
                  <a:extLst>
                    <a:ext uri="{9D8B030D-6E8A-4147-A177-3AD203B41FA5}">
                      <a16:colId xmlns:a16="http://schemas.microsoft.com/office/drawing/2014/main" val="288478431"/>
                    </a:ext>
                  </a:extLst>
                </a:gridCol>
                <a:gridCol w="2516683">
                  <a:extLst>
                    <a:ext uri="{9D8B030D-6E8A-4147-A177-3AD203B41FA5}">
                      <a16:colId xmlns:a16="http://schemas.microsoft.com/office/drawing/2014/main" val="2582024173"/>
                    </a:ext>
                  </a:extLst>
                </a:gridCol>
                <a:gridCol w="3788604">
                  <a:extLst>
                    <a:ext uri="{9D8B030D-6E8A-4147-A177-3AD203B41FA5}">
                      <a16:colId xmlns:a16="http://schemas.microsoft.com/office/drawing/2014/main" val="222352095"/>
                    </a:ext>
                  </a:extLst>
                </a:gridCol>
              </a:tblGrid>
              <a:tr h="508056"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i="0" u="none" strike="noStrike" kern="100" dirty="0">
                          <a:effectLst/>
                          <a:latin typeface="Cambria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IN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595" marR="188595" marT="26194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i="0" u="none" strike="noStrike" kern="100" dirty="0">
                          <a:effectLst/>
                          <a:latin typeface="Cambria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Rows</a:t>
                      </a:r>
                      <a:endParaRPr lang="en-IN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595" marR="188595" marT="26194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i="0" u="none" strike="noStrike" kern="100" dirty="0">
                          <a:effectLst/>
                          <a:latin typeface="Cambria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Columns</a:t>
                      </a:r>
                      <a:endParaRPr lang="en-IN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595" marR="188595" marT="26194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698620"/>
                  </a:ext>
                </a:extLst>
              </a:tr>
              <a:tr h="55681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i="0" u="none" strike="noStrike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Original Dataset</a:t>
                      </a:r>
                      <a:endParaRPr lang="en-IN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595" marR="188595" marT="26194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7543</a:t>
                      </a:r>
                      <a:endParaRPr lang="en-IN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595" marR="188595" marT="26194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IN" sz="5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595" marR="188595" marT="26194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985077"/>
                  </a:ext>
                </a:extLst>
              </a:tr>
              <a:tr h="55681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i="0" u="none" strike="noStrike" kern="100" dirty="0">
                          <a:effectLst/>
                          <a:latin typeface="Cambria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Cleaned Dataset</a:t>
                      </a:r>
                      <a:endParaRPr lang="en-IN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595" marR="188595" marT="26194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0" i="0" u="none" strike="noStrike" kern="100" dirty="0">
                          <a:effectLst/>
                          <a:latin typeface="Cambria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5000</a:t>
                      </a:r>
                      <a:endParaRPr lang="en-IN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595" marR="188595" marT="26194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0" i="0" u="none" strike="noStrike" kern="100" dirty="0">
                          <a:effectLst/>
                          <a:latin typeface="Cambria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5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595" marR="188595" marT="26194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74399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C25AFE-FFA7-4C63-4F0C-D0556D6A0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644842"/>
              </p:ext>
            </p:extLst>
          </p:nvPr>
        </p:nvGraphicFramePr>
        <p:xfrm>
          <a:off x="943896" y="3999714"/>
          <a:ext cx="10118845" cy="216511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5610855">
                  <a:extLst>
                    <a:ext uri="{9D8B030D-6E8A-4147-A177-3AD203B41FA5}">
                      <a16:colId xmlns:a16="http://schemas.microsoft.com/office/drawing/2014/main" val="797687896"/>
                    </a:ext>
                  </a:extLst>
                </a:gridCol>
                <a:gridCol w="4507990">
                  <a:extLst>
                    <a:ext uri="{9D8B030D-6E8A-4147-A177-3AD203B41FA5}">
                      <a16:colId xmlns:a16="http://schemas.microsoft.com/office/drawing/2014/main" val="486335811"/>
                    </a:ext>
                  </a:extLst>
                </a:gridCol>
              </a:tblGrid>
              <a:tr h="5412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Stage</a:t>
                      </a:r>
                      <a:endParaRPr lang="en-US" sz="24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Columns Remaining</a:t>
                      </a:r>
                      <a:endParaRPr lang="en-US" sz="24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8339447"/>
                  </a:ext>
                </a:extLst>
              </a:tr>
              <a:tr h="5412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Original Dataset</a:t>
                      </a:r>
                      <a:endParaRPr lang="en-US" sz="24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80</a:t>
                      </a:r>
                      <a:endParaRPr lang="en-US" sz="24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6582798"/>
                  </a:ext>
                </a:extLst>
              </a:tr>
              <a:tr h="5412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After Null Removal</a:t>
                      </a:r>
                      <a:endParaRPr lang="en-US" sz="24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42</a:t>
                      </a:r>
                      <a:endParaRPr lang="en-US" sz="24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3725263"/>
                  </a:ext>
                </a:extLst>
              </a:tr>
              <a:tr h="5412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After Duplicate and Irrelevant Removal</a:t>
                      </a:r>
                      <a:endParaRPr lang="en-US" sz="24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  <a:endParaRPr lang="en-US" sz="24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1286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204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7E361-2421-00B8-E77F-B2E056167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800" dirty="0">
                <a:latin typeface="Cambria" panose="02040503050406030204" pitchFamily="18" charset="0"/>
                <a:ea typeface="Cambria" panose="02040503050406030204" pitchFamily="18" charset="0"/>
              </a:rPr>
              <a:t>Dashboard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C54A4-ECFE-8CF1-3BD7-3EDF1E98C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12264"/>
            <a:ext cx="11155680" cy="3767328"/>
          </a:xfrm>
        </p:spPr>
        <p:txBody>
          <a:bodyPr/>
          <a:lstStyle/>
          <a:p>
            <a:pPr algn="just"/>
            <a:r>
              <a:rPr lang="en-ZA" sz="2800" dirty="0">
                <a:latin typeface="Cambria" panose="02040503050406030204" pitchFamily="18" charset="0"/>
                <a:ea typeface="Cambria" panose="02040503050406030204" pitchFamily="18" charset="0"/>
              </a:rPr>
              <a:t>An interactive dashboard titled </a:t>
            </a:r>
            <a:r>
              <a:rPr lang="en-ZA" sz="2800" b="1" dirty="0">
                <a:latin typeface="Cambria" panose="02040503050406030204" pitchFamily="18" charset="0"/>
                <a:ea typeface="Cambria" panose="02040503050406030204" pitchFamily="18" charset="0"/>
              </a:rPr>
              <a:t>“DePaul University Applications Tracker Dashboard”</a:t>
            </a:r>
            <a:r>
              <a:rPr lang="en-ZA" sz="2800" dirty="0">
                <a:latin typeface="Cambria" panose="02040503050406030204" pitchFamily="18" charset="0"/>
                <a:ea typeface="Cambria" panose="02040503050406030204" pitchFamily="18" charset="0"/>
              </a:rPr>
              <a:t> was developed using </a:t>
            </a:r>
            <a:r>
              <a:rPr lang="en-ZA" sz="2800" b="1" dirty="0">
                <a:latin typeface="Cambria" panose="02040503050406030204" pitchFamily="18" charset="0"/>
                <a:ea typeface="Cambria" panose="02040503050406030204" pitchFamily="18" charset="0"/>
              </a:rPr>
              <a:t>Google Looker Studio </a:t>
            </a:r>
            <a:r>
              <a:rPr lang="en-ZA" sz="2800" dirty="0">
                <a:latin typeface="Cambria" panose="02040503050406030204" pitchFamily="18" charset="0"/>
                <a:ea typeface="Cambria" panose="02040503050406030204" pitchFamily="18" charset="0"/>
              </a:rPr>
              <a:t>to visualize and present key admissions and recruitment metrics.</a:t>
            </a:r>
          </a:p>
          <a:p>
            <a:pPr algn="just"/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Supports filtering by application source and admission year</a:t>
            </a:r>
          </a:p>
          <a:p>
            <a:pPr algn="just"/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Enables real-time monitoring of application trends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82425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78A2DD2-0138-1569-7EC7-75EADE7F7B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5" t="1200" r="2161" b="1"/>
          <a:stretch>
            <a:fillRect/>
          </a:stretch>
        </p:blipFill>
        <p:spPr>
          <a:xfrm>
            <a:off x="517869" y="929148"/>
            <a:ext cx="11153214" cy="5726592"/>
          </a:xfrm>
        </p:spPr>
      </p:pic>
    </p:spTree>
    <p:extLst>
      <p:ext uri="{BB962C8B-B14F-4D97-AF65-F5344CB8AC3E}">
        <p14:creationId xmlns:p14="http://schemas.microsoft.com/office/powerpoint/2010/main" val="3335093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A704A-8ABF-DCB7-413E-FCB7B5461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78809"/>
            <a:ext cx="6309360" cy="1263347"/>
          </a:xfrm>
        </p:spPr>
        <p:txBody>
          <a:bodyPr>
            <a:normAutofit fontScale="90000"/>
          </a:bodyPr>
          <a:lstStyle/>
          <a:p>
            <a:r>
              <a:rPr lang="en-ZA" dirty="0">
                <a:latin typeface="Cambria" panose="02040503050406030204" pitchFamily="18" charset="0"/>
                <a:ea typeface="Cambria" panose="02040503050406030204" pitchFamily="18" charset="0"/>
              </a:rPr>
              <a:t>Where Are Our Applicants Coming From?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2A592-59AA-3E24-9610-9A913CE34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12258"/>
            <a:ext cx="6309360" cy="4580717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India dominates the applicant pool with 2,687 applications (53.7%).</a:t>
            </a:r>
          </a:p>
          <a:p>
            <a:pPr algn="just">
              <a:lnSpc>
                <a:spcPct val="20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USA follows closely (489), West Africa shows promise with Ghana (412) and Nigeria (361) collectively contributing 15.5%.</a:t>
            </a:r>
          </a:p>
          <a:p>
            <a:pPr algn="just"/>
            <a:endParaRPr lang="en-ZA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3CCC3946-881A-BACD-7A49-A233CD1B8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" r="12053"/>
          <a:stretch>
            <a:fillRect/>
          </a:stretch>
        </p:blipFill>
        <p:spPr>
          <a:xfrm>
            <a:off x="6990734" y="1460089"/>
            <a:ext cx="4680057" cy="2528715"/>
          </a:xfrm>
          <a:prstGeom prst="rect">
            <a:avLst/>
          </a:prstGeom>
        </p:spPr>
      </p:pic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E97D1E0A-1667-FFF6-C7A3-3BED513272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69" b="2043"/>
          <a:stretch>
            <a:fillRect/>
          </a:stretch>
        </p:blipFill>
        <p:spPr>
          <a:xfrm>
            <a:off x="6990734" y="4053824"/>
            <a:ext cx="4680057" cy="273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90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D391A-88E7-E01B-796B-3E58CF384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817888"/>
            <a:ext cx="10693330" cy="841855"/>
          </a:xfrm>
        </p:spPr>
        <p:txBody>
          <a:bodyPr>
            <a:normAutofit/>
          </a:bodyPr>
          <a:lstStyle/>
          <a:p>
            <a:r>
              <a:rPr lang="en-ZA" dirty="0">
                <a:latin typeface="Cambria" panose="02040503050406030204" pitchFamily="18" charset="0"/>
                <a:ea typeface="Cambria" panose="02040503050406030204" pitchFamily="18" charset="0"/>
              </a:rPr>
              <a:t>Which Programs Drive Demand?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799EB-99CF-48FC-D92D-782A07C17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1766644"/>
            <a:ext cx="6602369" cy="4583266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20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Business Analytics leads with 846 applications, followed by Computer Science and Data Science. </a:t>
            </a:r>
          </a:p>
          <a:p>
            <a:pPr algn="just">
              <a:lnSpc>
                <a:spcPct val="20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Nine of the top 10 programs are STEM fields, collectively representing 42.3% of all applications.</a:t>
            </a:r>
          </a:p>
          <a:p>
            <a:pPr marL="0" indent="0" algn="just">
              <a:buNone/>
            </a:pPr>
            <a:endParaRPr lang="en-ZA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Content Placeholder 10">
            <a:extLst>
              <a:ext uri="{FF2B5EF4-FFF2-40B4-BE49-F238E27FC236}">
                <a16:creationId xmlns:a16="http://schemas.microsoft.com/office/drawing/2014/main" id="{FB442F8B-60F6-5B31-8E12-00E316019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056" y="1766644"/>
            <a:ext cx="4700417" cy="478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01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F025A8-D516-8596-CE3C-2453837E9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3735FBD9-A9B0-DCBA-B4F1-7CD741FC9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EFDCC-127F-EED4-A67B-82AAA9DC9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817888"/>
            <a:ext cx="10897382" cy="841855"/>
          </a:xfrm>
        </p:spPr>
        <p:txBody>
          <a:bodyPr>
            <a:normAutofit fontScale="90000"/>
          </a:bodyPr>
          <a:lstStyle/>
          <a:p>
            <a:r>
              <a:rPr lang="en-ZA" dirty="0">
                <a:latin typeface="Cambria" panose="02040503050406030204" pitchFamily="18" charset="0"/>
                <a:ea typeface="Cambria" panose="02040503050406030204" pitchFamily="18" charset="0"/>
              </a:rPr>
              <a:t>Which College Has the Highest Applications?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2836756-FEBB-99DA-19C9-FBE5852B0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F48C7-0B14-ED38-3ADD-43428362F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1766644"/>
            <a:ext cx="6602369" cy="4583266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Jarvis College of Computing and Digital Media (2,413) and </a:t>
            </a:r>
            <a:r>
              <a:rPr lang="en-US" sz="2400" dirty="0" err="1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Kellstadt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Graduate School of Business (1,638) together capture 81.1% of international applications. </a:t>
            </a:r>
          </a:p>
          <a:p>
            <a:pPr algn="just">
              <a:lnSpc>
                <a:spcPct val="200000"/>
              </a:lnSpc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remaining colleges average fewer than 225 applications each.</a:t>
            </a: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7FE20819-CD06-F0C0-EA01-CC3E1CCFD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955" y="1820261"/>
            <a:ext cx="4773393" cy="477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123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C7A76-C823-6738-2ADC-61F6F063C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75C9CDD-85B8-4648-A009-90A146595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073E7-A740-154F-7871-C5001F026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77" y="844530"/>
            <a:ext cx="12188951" cy="841855"/>
          </a:xfrm>
        </p:spPr>
        <p:txBody>
          <a:bodyPr>
            <a:noAutofit/>
          </a:bodyPr>
          <a:lstStyle/>
          <a:p>
            <a:r>
              <a:rPr lang="en-ZA" sz="4000" dirty="0">
                <a:latin typeface="Cambria" panose="02040503050406030204" pitchFamily="18" charset="0"/>
                <a:ea typeface="Cambria" panose="02040503050406030204" pitchFamily="18" charset="0"/>
              </a:rPr>
              <a:t>How Does Application Trend Over the Months?</a:t>
            </a:r>
            <a:endParaRPr lang="en-ZA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954FD2F-CA3B-98CB-9FEF-601D48853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FBC57-0CD5-945A-BCC3-915320B7B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1766644"/>
            <a:ext cx="6602369" cy="4583266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Monthly admission decisions range from 214 to 358, with January showing the highest activity.</a:t>
            </a:r>
          </a:p>
          <a:p>
            <a:pPr algn="just">
              <a:lnSpc>
                <a:spcPct val="200000"/>
              </a:lnSpc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The process is relatively distributed across the year rather than concentrated in specific periods. Currently, 1,744 applications (34.9%) remain pending decision.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4DFC2B-C30D-CB0B-B973-12EED87A3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576" y="1659743"/>
            <a:ext cx="4920772" cy="494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011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7661BE-9902-D564-D18A-1DCBE7610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D6A99DA-14AB-B4C8-CC42-0039FAFF7A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49681-EEA8-0772-72A7-8E1A6A9A5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817888"/>
            <a:ext cx="11156260" cy="841855"/>
          </a:xfrm>
        </p:spPr>
        <p:txBody>
          <a:bodyPr>
            <a:no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How Do Students Find Us?</a:t>
            </a:r>
            <a:endParaRPr lang="en-ZA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12AE5A7-F73A-15D3-8BB4-FCD5D8879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ACD88-F9D0-4986-2D51-0D2BEF78C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1766644"/>
            <a:ext cx="6602369" cy="458326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Non-Study Group channels (direct website, fairs, independent agents) contribute 4,212 applications (84.2%), while the Study Group partnership delivers 788 applications (15.8%).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DePaul's strength lies in direct recruitment, a competitive advantage indicating strong brand recognition and effective digital presence.</a:t>
            </a:r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68F34ADD-037D-F5DB-A9F3-A49C74E94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958" y="1659743"/>
            <a:ext cx="4178612" cy="421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290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9BE5BD-580E-4D4F-5F6E-8339C4B76CCE}"/>
              </a:ext>
            </a:extLst>
          </p:cNvPr>
          <p:cNvSpPr txBox="1"/>
          <p:nvPr/>
        </p:nvSpPr>
        <p:spPr>
          <a:xfrm>
            <a:off x="855209" y="1236587"/>
            <a:ext cx="3997010" cy="29855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What Should We Do Next?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E7F62D80-12BB-6D68-201F-C1B1FBAF15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530" b="-1"/>
          <a:stretch>
            <a:fillRect/>
          </a:stretch>
        </p:blipFill>
        <p:spPr>
          <a:xfrm>
            <a:off x="5766618" y="1000768"/>
            <a:ext cx="4965189" cy="4956048"/>
          </a:xfrm>
          <a:prstGeom prst="rect">
            <a:avLst/>
          </a:prstGeom>
        </p:spPr>
      </p:pic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193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BA030-6848-F0C0-BD50-4EC0077F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86679"/>
            <a:ext cx="11155680" cy="1463040"/>
          </a:xfrm>
        </p:spPr>
        <p:txBody>
          <a:bodyPr/>
          <a:lstStyle/>
          <a:p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Strategic Recommendations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BFE22-F41E-D3BD-6EC7-600FF2837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784555"/>
            <a:ext cx="11380740" cy="442864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b="1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DIVERSIFY AWAY FROM INDIA DEPENDENCY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One visa policy change could devastate enrollment. Set an intake cap on India while growing West Africa (Ghana and Nigeria) and entering other under explored markets. </a:t>
            </a:r>
          </a:p>
          <a:p>
            <a:pPr marL="0" indent="0" algn="just">
              <a:buNone/>
            </a:pPr>
            <a:endParaRPr lang="en-US" sz="2400" dirty="0">
              <a:solidFill>
                <a:schemeClr val="tx1">
                  <a:alpha val="8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ZA" sz="2800" b="1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FOCUS MARKETING ON WHAT STUDENTS ACTUALLY WANT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Students overwhelmingly want STEM. Put the bulk of the marketing budget behind these high-demand programs. Launch a "DePaul STEM" campaign. 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54673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C163B-EA6B-C023-CC66-8019AE85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80F71-99B7-E441-D0B5-E1B525C80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86679"/>
            <a:ext cx="11155680" cy="146304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Strategic Recommendations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375A7-2817-8DF7-8AA6-3E1A98E43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769806"/>
            <a:ext cx="11380740" cy="4428646"/>
          </a:xfrm>
        </p:spPr>
        <p:txBody>
          <a:bodyPr>
            <a:normAutofit fontScale="92500" lnSpcReduction="20000"/>
          </a:bodyPr>
          <a:lstStyle/>
          <a:p>
            <a:pPr lvl="0" algn="just"/>
            <a:r>
              <a:rPr lang="en-ZA" sz="3200" b="1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REALLOCATE STAFF TO MATCH WORKLOAD</a:t>
            </a:r>
            <a:endParaRPr lang="en-US" sz="3200" dirty="0">
              <a:solidFill>
                <a:schemeClr val="tx1">
                  <a:alpha val="8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Two colleges (Jarvis and </a:t>
            </a:r>
            <a:r>
              <a:rPr lang="en-US" sz="2800" dirty="0" err="1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Kellstadt</a:t>
            </a:r>
            <a:r>
              <a:rPr lang="en-US" sz="28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get 81% of applications but may not have relative staffing to handle the workload, creating burnout and delays. Assign most counselors to these two busy colleges.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lvl="0" algn="just"/>
            <a:r>
              <a:rPr lang="en-US" sz="3200" b="1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CLEAR THE APPLICATION BACKLOG</a:t>
            </a:r>
            <a:endParaRPr lang="en-US" sz="3200" dirty="0">
              <a:solidFill>
                <a:schemeClr val="tx1">
                  <a:alpha val="8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1,744 applications are sitting in limbo (35%), that's 6 months of work piling up. Students are waiting too long for decisions. Set monthly goals, add temporary help during busy January-March period, use software to auto-approve obvious yes/no cases.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2129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FF3D6-17A6-99FE-FAF8-CCAA580DE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B276-9994-30F5-0141-936205C61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86679"/>
            <a:ext cx="11155680" cy="1463040"/>
          </a:xfrm>
        </p:spPr>
        <p:txBody>
          <a:bodyPr/>
          <a:lstStyle/>
          <a:p>
            <a:r>
              <a:rPr lang="en-US" sz="4800">
                <a:latin typeface="Cambria" panose="02040503050406030204" pitchFamily="18" charset="0"/>
                <a:ea typeface="Cambria" panose="02040503050406030204" pitchFamily="18" charset="0"/>
              </a:rPr>
              <a:t>Strategic Recommendations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93458-ED60-3DEA-3AD3-78795F66F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755057"/>
            <a:ext cx="11380740" cy="4428646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sz="3200" b="1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EVALUATE STUDY GROUP PARTNERSHIP ROI</a:t>
            </a:r>
            <a:endParaRPr lang="en-US" sz="3200" dirty="0">
              <a:solidFill>
                <a:schemeClr val="tx1">
                  <a:alpha val="8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Study Group contributes only 15.8% of volume but cost-effectiveness unknown. Assess conversion rates by channel, renegotiate contract terms or diversify to alternative agencies.</a:t>
            </a:r>
          </a:p>
          <a:p>
            <a:pPr marL="0" indent="0">
              <a:buNone/>
            </a:pPr>
            <a:endParaRPr lang="en-US" sz="2800" dirty="0">
              <a:solidFill>
                <a:schemeClr val="tx1">
                  <a:alpha val="8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US" sz="3200" b="1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INVEST IN WHAT'S ALREADY WORKING (NON-STUDY)</a:t>
            </a:r>
            <a:endParaRPr lang="en-US" sz="3200" dirty="0">
              <a:solidFill>
                <a:schemeClr val="tx1">
                  <a:alpha val="8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84% of students apply directly (not through agencies), this is a strength, but that can be maximized. Improve the website, add live chat support, boost digital ads to make it easier for students to apply. 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60254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1CFA35-06DF-F2D6-4CCD-37B5FDB0A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463040"/>
          </a:xfrm>
        </p:spPr>
        <p:txBody>
          <a:bodyPr>
            <a:normAutofit/>
          </a:bodyPr>
          <a:lstStyle/>
          <a:p>
            <a:r>
              <a:rPr lang="en-ZA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  <a:endParaRPr lang="en-ZA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298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1394A5-40B4-F401-57EB-67ED6028F0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7" y="2578608"/>
            <a:ext cx="6544117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indent="0" algn="just">
              <a:buNone/>
            </a:pPr>
            <a:r>
              <a:rPr lang="en-ZA" sz="2400" dirty="0">
                <a:latin typeface="Cambria" panose="02040503050406030204" pitchFamily="18" charset="0"/>
                <a:ea typeface="Cambria" panose="02040503050406030204" pitchFamily="18" charset="0"/>
              </a:rPr>
              <a:t>The University must diversify geography, align resources with demand, and eliminate operational bottlenecks to sustain international enrolment growth while reducing concentration risk; failure to act risks significant enrolment volatility.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5EEC62-4014-3583-BD21-ADCF35320A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99" r="32203" b="1"/>
          <a:stretch>
            <a:fillRect/>
          </a:stretch>
        </p:blipFill>
        <p:spPr>
          <a:xfrm>
            <a:off x="7586236" y="508090"/>
            <a:ext cx="4081805" cy="584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30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D587A3-0C68-D782-BEC6-69E590EF6DAA}"/>
              </a:ext>
            </a:extLst>
          </p:cNvPr>
          <p:cNvSpPr txBox="1"/>
          <p:nvPr/>
        </p:nvSpPr>
        <p:spPr>
          <a:xfrm>
            <a:off x="916074" y="701941"/>
            <a:ext cx="10587667" cy="29855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000" b="1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THANK YOU FOR LISTENING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9342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1500</TotalTime>
  <Words>952</Words>
  <Application>Microsoft Office PowerPoint</Application>
  <PresentationFormat>Widescreen</PresentationFormat>
  <Paragraphs>111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Bierstadt</vt:lpstr>
      <vt:lpstr>Cambria</vt:lpstr>
      <vt:lpstr>GestaltVTI</vt:lpstr>
      <vt:lpstr>DePaul University International Applications:  Improving Admissions and Outreach Strategies</vt:lpstr>
      <vt:lpstr>Introduction</vt:lpstr>
      <vt:lpstr>Overview of the Dataset</vt:lpstr>
      <vt:lpstr>Dataset Composition</vt:lpstr>
      <vt:lpstr>Geographic Scope</vt:lpstr>
      <vt:lpstr>Tools &amp; Methodology</vt:lpstr>
      <vt:lpstr>Data Quality Assessment</vt:lpstr>
      <vt:lpstr>Data Preparation and Cleaning</vt:lpstr>
      <vt:lpstr>Impact of Data Cleaning</vt:lpstr>
      <vt:lpstr>Dashboard Development</vt:lpstr>
      <vt:lpstr>PowerPoint Presentation</vt:lpstr>
      <vt:lpstr>Where Are Our Applicants Coming From?</vt:lpstr>
      <vt:lpstr>Which Programs Drive Demand?</vt:lpstr>
      <vt:lpstr>Which College Has the Highest Applications?</vt:lpstr>
      <vt:lpstr>How Does Application Trend Over the Months?</vt:lpstr>
      <vt:lpstr>How Do Students Find Us?</vt:lpstr>
      <vt:lpstr>PowerPoint Presentation</vt:lpstr>
      <vt:lpstr>Strategic Recommendations</vt:lpstr>
      <vt:lpstr>Strategic Recommendations</vt:lpstr>
      <vt:lpstr>Strategic 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NOLUTHANDO VUTOMI SEKHULA</dc:creator>
  <cp:lastModifiedBy>victorodior66@gmail.com</cp:lastModifiedBy>
  <cp:revision>4</cp:revision>
  <dcterms:created xsi:type="dcterms:W3CDTF">2026-02-25T08:47:36Z</dcterms:created>
  <dcterms:modified xsi:type="dcterms:W3CDTF">2026-03-02T17:46:16Z</dcterms:modified>
</cp:coreProperties>
</file>